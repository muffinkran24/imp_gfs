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4820C58-440A-49F5-BA60-624AA449B03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Anwendung in Taschenrechnern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 wurde in der 38. Woche im Jahr 1971 hergestellt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Anwendung in Taschenrechnern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 wurde in der 38. Woche im Jahr 1971 hergestellt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Anwendung in Taschenrechnern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 wurde in der 38. Woche im Jahr 1971 hergestellt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Anwendung in Taschenrechnern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Chip wurde in der 38. Woche im Jahr 1971 hergestellt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4-Bit CPU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60$ heute ca. 490$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 benötigte noch andere Chips wie Speicher und I/O Systeme wodurch ein System 1970 mehrere hundert Dollar kostete was heute mehreren tausend Dollar entsprechen würde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4-Bit CPU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60$ heute 490$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740 - 750 kHz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Kern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490€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Kerne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4,7 – 5,6 GHz Taktgeschwindigkeit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490€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 Kerne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4,7 – 5,6 GHz Taktgeschwindigkeit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4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D4F44-38EF-40D5-B879-1F9DAB43A1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503640" y="225720"/>
            <a:ext cx="906876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FF5F9B-C687-4032-B6EA-B24AFCA08D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97C83D-DF55-40DB-A3C3-A4E90042FC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5E452C2-5F7A-48AA-9713-B41791CDA5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1976760"/>
            <a:ext cx="9068760" cy="1108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Mikrocontroller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Mikrocontroller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3640" y="1172160"/>
            <a:ext cx="9068760" cy="141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TMS 1802 NC kam danach als Teil der TMS1000 Serie 1974 auf den Markt 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>
            <a:alphaModFix amt="0"/>
          </a:blip>
          <a:stretch/>
        </p:blipFill>
        <p:spPr>
          <a:xfrm rot="5403000">
            <a:off x="1651680" y="1357560"/>
            <a:ext cx="2717280" cy="54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6172200" y="2665800"/>
            <a:ext cx="3663360" cy="282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"/>
          <p:cNvSpPr txBox="1"/>
          <p:nvPr/>
        </p:nvSpPr>
        <p:spPr>
          <a:xfrm>
            <a:off x="9423000" y="5257800"/>
            <a:ext cx="6537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[9,8]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chemeClr val="lt1">
                    <a:lumOff val="0"/>
                  </a:schemeClr>
                </a:solidFill>
                <a:effectLst/>
                <a:uFillTx/>
                <a:latin typeface="3270 Nerd Font"/>
              </a:rPr>
              <a:t>Anwendung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975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Haushaltsgeräte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Programmierbare Maschinen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Kontrollsysteme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Roboter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Chipkarten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Peripheriegeräte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Eingebettete Systeme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588160" y="3200400"/>
            <a:ext cx="120312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6629400" y="4326840"/>
            <a:ext cx="1600200" cy="93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"/>
          <p:cNvPicPr/>
          <p:nvPr/>
        </p:nvPicPr>
        <p:blipFill>
          <a:blip r:embed="rId3">
            <a:alphaModFix amt="0"/>
          </a:blip>
          <a:stretch/>
        </p:blipFill>
        <p:spPr>
          <a:xfrm>
            <a:off x="7543800" y="225720"/>
            <a:ext cx="2239920" cy="223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"/>
          <p:cNvPicPr/>
          <p:nvPr/>
        </p:nvPicPr>
        <p:blipFill>
          <a:blip r:embed="rId4">
            <a:alphaModFix amt="0"/>
          </a:blip>
          <a:stretch/>
        </p:blipFill>
        <p:spPr>
          <a:xfrm>
            <a:off x="6400800" y="2514600"/>
            <a:ext cx="1054440" cy="88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5">
            <a:alphaModFix amt="0"/>
          </a:blip>
          <a:stretch/>
        </p:blipFill>
        <p:spPr>
          <a:xfrm>
            <a:off x="7673760" y="2337480"/>
            <a:ext cx="914400" cy="10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"/>
          <p:cNvSpPr txBox="1"/>
          <p:nvPr/>
        </p:nvSpPr>
        <p:spPr>
          <a:xfrm>
            <a:off x="9144000" y="5257800"/>
            <a:ext cx="84600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[1,2,3]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64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chemeClr val="lt1">
                    <a:lumOff val="0"/>
                  </a:schemeClr>
                </a:solidFill>
                <a:effectLst/>
                <a:uFillTx/>
                <a:latin typeface="3270 Nerd Font"/>
              </a:rPr>
              <a:t>Was ist ein Mikrocontroller?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56685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Kleiner Computer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CPU, Arbeitsspeicher und Peripherie auf einem Chip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Heute häufig noch andere Funktionen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"/>
          <p:cNvPicPr/>
          <p:nvPr/>
        </p:nvPicPr>
        <p:blipFill>
          <a:blip r:embed="rId1">
            <a:alphaModFix amt="68000"/>
          </a:blip>
          <a:stretch/>
        </p:blipFill>
        <p:spPr>
          <a:xfrm>
            <a:off x="7507800" y="2971800"/>
            <a:ext cx="2057400" cy="205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"/>
          <p:cNvPicPr/>
          <p:nvPr/>
        </p:nvPicPr>
        <p:blipFill>
          <a:blip r:embed="rId2">
            <a:alphaModFix amt="68000"/>
          </a:blip>
          <a:stretch/>
        </p:blipFill>
        <p:spPr>
          <a:xfrm>
            <a:off x="6629400" y="1143000"/>
            <a:ext cx="2935800" cy="195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"/>
          <p:cNvSpPr txBox="1"/>
          <p:nvPr/>
        </p:nvSpPr>
        <p:spPr>
          <a:xfrm>
            <a:off x="9369360" y="5257800"/>
            <a:ext cx="6537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[4,5]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640" y="87480"/>
            <a:ext cx="9068760" cy="12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Was ist der Unterschied zu einem Mikroprozessor?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7" name=""/>
          <p:cNvGraphicFramePr/>
          <p:nvPr/>
        </p:nvGraphicFramePr>
        <p:xfrm>
          <a:off x="501840" y="1464840"/>
          <a:ext cx="9068400" cy="3917520"/>
        </p:xfrm>
        <a:graphic>
          <a:graphicData uri="http://schemas.openxmlformats.org/drawingml/2006/table">
            <a:tbl>
              <a:tblPr/>
              <a:tblGrid>
                <a:gridCol w="4534200"/>
                <a:gridCol w="4534560"/>
              </a:tblGrid>
              <a:tr h="67716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Mikroprozessor (MPU)</a:t>
                      </a:r>
                      <a:endParaRPr lang="en-US" sz="28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Mikrocontroller (MCU)</a:t>
                      </a:r>
                      <a:endParaRPr lang="en-US" sz="28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964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nur CPU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CPU + RAM + ROM + Peripherie 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964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hoher Stromverbrauch 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(benötigt eine Kühlung)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niedriger Stromverbrauch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(für den Batteriebetrieb)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07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Rechenintensive Anwendungen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Steuerung von Geräten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10720"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teuer: über 100€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US" sz="22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3270 Nerd Font"/>
                        </a:rPr>
                        <a:t>günstig: ein paar Cent bis wenige Euro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3270 Nerd Font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Mikrocontroller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3640" y="1172160"/>
            <a:ext cx="9068760" cy="141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  <a:ea typeface="Noto Sans CJK SC"/>
              </a:rPr>
              <a:t>September 1971: Texas Instruments baute den ersten Mikrocontroller,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  <a:ea typeface="Noto Sans CJK SC"/>
              </a:rPr>
              <a:t>den TMS 1802 NC.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"/>
          <p:cNvPicPr/>
          <p:nvPr/>
        </p:nvPicPr>
        <p:blipFill>
          <a:blip r:embed="rId1">
            <a:alphaModFix amt="0"/>
          </a:blip>
          <a:stretch/>
        </p:blipFill>
        <p:spPr>
          <a:xfrm rot="5403000">
            <a:off x="1651680" y="1357560"/>
            <a:ext cx="2717280" cy="549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 txBox="1"/>
          <p:nvPr/>
        </p:nvSpPr>
        <p:spPr>
          <a:xfrm>
            <a:off x="9601200" y="5257800"/>
            <a:ext cx="46188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[9]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Mikrocontroller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3640" y="1172160"/>
            <a:ext cx="9068760" cy="141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TMS 1802 NC kam danach als Teil der TMS1000 Serie 1974 auf den Markt 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"/>
          <p:cNvPicPr/>
          <p:nvPr/>
        </p:nvPicPr>
        <p:blipFill>
          <a:blip r:embed="rId1">
            <a:alphaModFix amt="0"/>
          </a:blip>
          <a:stretch/>
        </p:blipFill>
        <p:spPr>
          <a:xfrm rot="5403000">
            <a:off x="1651680" y="1357560"/>
            <a:ext cx="2717280" cy="54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6172200" y="2665800"/>
            <a:ext cx="3663360" cy="282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9423000" y="5257800"/>
            <a:ext cx="6537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[9,8]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Mikrocontroller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257800" y="1371600"/>
            <a:ext cx="4314600" cy="38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Damals 20$,  heute 165$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4-Bit CPU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300 kHz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182 Bit RAM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/>
          <p:cNvPicPr/>
          <p:nvPr/>
        </p:nvPicPr>
        <p:blipFill>
          <a:blip r:embed="rId1">
            <a:alphaModFix amt="0"/>
          </a:blip>
          <a:stretch/>
        </p:blipFill>
        <p:spPr>
          <a:xfrm rot="5403600">
            <a:off x="1409040" y="2017080"/>
            <a:ext cx="2243520" cy="453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 txBox="1"/>
          <p:nvPr/>
        </p:nvSpPr>
        <p:spPr>
          <a:xfrm>
            <a:off x="9572400" y="5257800"/>
            <a:ext cx="46188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[9]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Mikroprozessor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3640" y="1176840"/>
            <a:ext cx="9097560" cy="141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4"/>
              </a:spcBef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November 1971: Der Intel 4004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 ist der erste Mikroprozessor auf einem einzigen C</a:t>
            </a: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hip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228600" y="2593800"/>
            <a:ext cx="4343400" cy="28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"/>
          <p:cNvSpPr txBox="1"/>
          <p:nvPr/>
        </p:nvSpPr>
        <p:spPr>
          <a:xfrm>
            <a:off x="9572400" y="5257800"/>
            <a:ext cx="46188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[6]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5077080" y="2396880"/>
            <a:ext cx="4524120" cy="2860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Man benötigt externe Chips für Speicher und Peripherie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7" dur="indefinite" restart="never" nodeType="tmRoot">
          <p:childTnLst>
            <p:seq>
              <p:cTn id="78" dur="indefinite" nodeType="mainSeq">
                <p:childTnLst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Der erste Mikroprozessor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228600" y="2593800"/>
            <a:ext cx="4343400" cy="289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"/>
          <p:cNvSpPr txBox="1"/>
          <p:nvPr/>
        </p:nvSpPr>
        <p:spPr>
          <a:xfrm>
            <a:off x="9572400" y="5257800"/>
            <a:ext cx="46188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[6]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077080" y="1371600"/>
            <a:ext cx="4524120" cy="3886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Damals 60$ heute 480$ 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4-Bit CPU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1 Kern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740 - 750 kHz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9" dur="indefinite" restart="never" nodeType="tmRoot">
          <p:childTnLst>
            <p:seq>
              <p:cTn id="90" dur="indefinite" nodeType="mainSeq">
                <p:childTnLst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Moderne Mikroprozessoren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657600" y="1326240"/>
            <a:ext cx="591480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Januar 2026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490€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64-Bit CPU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8 Kerne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4,7 – 5,6 GHz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Symbol" charset="2"/>
              <a:buChar char=""/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 Mehr als 7000-mal schneller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9484200" y="5267880"/>
            <a:ext cx="5925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[11]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"/>
          <p:cNvPicPr/>
          <p:nvPr/>
        </p:nvPicPr>
        <p:blipFill>
          <a:blip r:embed="rId1">
            <a:alphaModFix amt="0"/>
          </a:blip>
          <a:srcRect l="28307" t="15792" r="28046" b="15759"/>
          <a:stretch/>
        </p:blipFill>
        <p:spPr>
          <a:xfrm>
            <a:off x="228960" y="2514600"/>
            <a:ext cx="2742840" cy="297144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Moderne Mikrocontroller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657600" y="1326240"/>
            <a:ext cx="591480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August 2024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1€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32-Bit CPU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150 MHz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520 KB RAM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484200" y="5267880"/>
            <a:ext cx="5925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[12]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343080" y="2514600"/>
            <a:ext cx="2857320" cy="285732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Aufbau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Prozessor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RAM (Random-access memory)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ROM (Read-only memory)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A/D Converter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Timer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Interrupts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Bus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9572400" y="5257800"/>
            <a:ext cx="46188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[7]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6177600" y="3657600"/>
            <a:ext cx="3566160" cy="137160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13" dur="indefinite" restart="never" nodeType="tmRoot">
          <p:childTnLst>
            <p:seq>
              <p:cTn id="114" dur="indefinite" nodeType="mainSeq">
                <p:childTnLst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1293840" y="1325880"/>
            <a:ext cx="74876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-369720" y="0"/>
            <a:ext cx="107978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 txBox="1"/>
          <p:nvPr/>
        </p:nvSpPr>
        <p:spPr>
          <a:xfrm>
            <a:off x="9484200" y="5085000"/>
            <a:ext cx="592560" cy="40140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[10]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Wie funktioniert ein MC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Die CPU liest das Programm aus dem ROM aus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Die CPU decodiert den Befehl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Die CPU führt den Befehl aus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Pro Takt wird ein Befehl ausgeführt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4"/>
              </a:spcBef>
              <a:buNone/>
            </a:pPr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(16 MHz → 16.000.000 Befehle pro Sekunde)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41" dur="indefinite" restart="never" nodeType="tmRoot">
          <p:childTnLst>
            <p:seq>
              <p:cTn id="142" dur="indefinite" nodeType="mainSeq">
                <p:childTnLst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Was genau macht die CPU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Kontrolleinheit: verarbeitet die Befehle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Arithmetisch-logische Einheit: führt Berechnungen durch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Register: extrem schnelle Zwischenspeicher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(</a:t>
            </a: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Clock: erzeugt einen Takt für die CPU</a:t>
            </a: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)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59" dur="indefinite" restart="never" nodeType="tmRoot">
          <p:childTnLst>
            <p:seq>
              <p:cTn id="160" dur="indefinite" nodeType="mainSeq">
                <p:childTnLst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Programmierung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MC werden in maschinennahen Programmiersprachen programmiert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85000"/>
              <a:buFont typeface="Wingdings" charset="2"/>
              <a:buChar char="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Direkter Zugriff auf den Speicher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>
            <a:alphaModFix amt="0"/>
          </a:blip>
          <a:stretch/>
        </p:blipFill>
        <p:spPr>
          <a:xfrm>
            <a:off x="854280" y="3139200"/>
            <a:ext cx="1431720" cy="189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/>
          <p:cNvPicPr/>
          <p:nvPr/>
        </p:nvPicPr>
        <p:blipFill>
          <a:blip r:embed="rId2">
            <a:alphaModFix amt="0"/>
          </a:blip>
          <a:stretch/>
        </p:blipFill>
        <p:spPr>
          <a:xfrm>
            <a:off x="2801880" y="3138120"/>
            <a:ext cx="1902960" cy="1891080"/>
          </a:xfrm>
          <a:prstGeom prst="rect">
            <a:avLst/>
          </a:prstGeom>
          <a:noFill/>
          <a:ln w="0">
            <a:noFill/>
          </a:ln>
        </p:spPr>
      </p:pic>
    </p:spTree>
  </p:cSld>
  <p:timing>
    <p:tnLst>
      <p:par>
        <p:cTn id="177" dur="indefinite" restart="never" nodeType="tmRoot">
          <p:childTnLst>
            <p:seq>
              <p:cTn id="178" dur="indefinite" nodeType="mainSeq">
                <p:childTnLst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Mein Projekt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76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Todo: Bild einfügen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95" dur="indefinite" restart="never" nodeType="tmRoot">
          <p:childTnLst>
            <p:seq>
              <p:cTn id="196" dur="indefinite" nodeType="mainSeq">
                <p:childTnLst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282828"/>
            </a:gs>
            <a:gs pos="100000">
              <a:srgbClr val="1D2021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Quellen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326240"/>
            <a:ext cx="9115200" cy="3931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https://en.wikipedia.org/wiki/Microcontroller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https://en.wikipedia.org/wiki/Microprocessor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https://en.wikipedia.org/wiki/ATmega328#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https://ww1.microchip.com/downloads/aemDocuments/documents/MCU08/ProductDocuments/DataSheets/ATmega48A-PA-88A-PA-168A-PA-328-P-DS-DS40002061B.pdf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https://en.wikipedia.org/wiki/AVR_microcontrollers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https://web.archive.org/web/20100217065617/http://smithsonianchips.si.edu/augarten/p38.htm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https://historydraft.com/story/microprocessor/tms-1802nc/425/6336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https://www.amd.com/en/products/processors/desktops/ryzen/9000-series/amd-ryzen-7-9850x3d.html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https://en.wikipedia.org/wiki/Intel_4004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https://en.wikipedia.org/wiki/RP2350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Taschenbuch Mikroprozessortechnik von Thomas Beierlein und Olaf Hagenbruch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3270 Nerd Font"/>
              </a:rPr>
              <a:t>-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532440" y="640800"/>
            <a:ext cx="906876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3270 Nerd Font"/>
              </a:rPr>
              <a:t>Fragen?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2026-03-19T18:40:16Z</dcterms:created>
  <dc:creator/>
  <dc:description/>
  <dc:language>en-US</dc:language>
  <cp:lastModifiedBy/>
  <cp:lastPrinted>2026-04-17T21:49:29Z</cp:lastPrinted>
  <dcterms:modified xsi:type="dcterms:W3CDTF">2026-06-11T21:23:27Z</dcterms:modified>
  <cp:revision>132</cp:revision>
  <dc:subject/>
  <dc:title/>
</cp:coreProperties>
</file>