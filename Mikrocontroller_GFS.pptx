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0077450" cy="5668963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D49403E-CE31-4276-99C1-A0B279DF37F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Anwendung in Taschenrechnern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Chip wurde in der 38. Woche im Jahr 1971 hergestellt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ln w="0">
            <a:noFill/>
          </a:ln>
        </p:spPr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Anwendung in Taschenrechnern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Chip wurde in der 38. Woche im Jahr 1971 hergestellt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ln w="0">
            <a:noFill/>
          </a:ln>
        </p:spPr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Anwendung in Taschenrechnern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Chip wurde in der 38. Woche im Jahr 1971 hergestellt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ln w="0">
            <a:noFill/>
          </a:ln>
        </p:spPr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4-Bit CPU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60$ heute ca. 490$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 benötigte noch andere Chips wie Speicher und I/O Systeme wodurch ein System 1970 mehrere hundert Dollar kostete was heute mehreren tausend Dollar entsprechen würde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ln w="0">
            <a:noFill/>
          </a:ln>
        </p:spPr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4-Bit CPU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60$ heute 490$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740 - 750 kHz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Kern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ln w="0">
            <a:noFill/>
          </a:ln>
        </p:spPr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490€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Kerne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4,7 – 5,6 GHz Taktgeschwindigkeit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ln w="0">
            <a:noFill/>
          </a:ln>
        </p:spPr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490€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Kerne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4,7 – 5,6 GHz Taktgeschwindigkeit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Speziell auf bestimmte boards zugeschnitten;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C++ mit Bibliotheken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906876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4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E7BF8DE-5265-4C6A-B191-1A2F00DA131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ubTitle"/>
          </p:nvPr>
        </p:nvSpPr>
        <p:spPr>
          <a:xfrm>
            <a:off x="503640" y="225720"/>
            <a:ext cx="9068760" cy="438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68E100D-330D-4F91-A282-5F049DAF19F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E45A37E-5A70-4D64-8427-BA466F51EFA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3640" y="1326240"/>
            <a:ext cx="906876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4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4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3640" y="5164560"/>
            <a:ext cx="234756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5920" y="5164560"/>
            <a:ext cx="319392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4840" y="5164560"/>
            <a:ext cx="234756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A9DC703-8E4B-4C50-BAE3-047A5FAFC6F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jpe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image" Target="../media/image16.jpeg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1976760"/>
            <a:ext cx="9068760" cy="110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80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Mikrocontroller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3657600" y="5140080"/>
            <a:ext cx="27608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Finn Brandt – 19.06.2026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chemeClr val="lt1">
                    <a:lumOff val="0"/>
                  </a:schemeClr>
                </a:solidFill>
                <a:effectLst/>
                <a:uFillTx/>
                <a:latin typeface="3270 Nerd Font"/>
              </a:rPr>
              <a:t>Anwendung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9097560" cy="393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Haushaltsgeräte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Programmierbare Maschinen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Kontrollsysteme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Roboter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Chipkarten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Peripheriegeräte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Eingebettete Systeme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" name=""/>
          <p:cNvPicPr/>
          <p:nvPr/>
        </p:nvPicPr>
        <p:blipFill>
          <a:blip r:embed="rId1">
            <a:alphaModFix amt="0"/>
          </a:blip>
          <a:stretch/>
        </p:blipFill>
        <p:spPr>
          <a:xfrm>
            <a:off x="8588160" y="3200400"/>
            <a:ext cx="1203120" cy="2057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"/>
          <p:cNvPicPr/>
          <p:nvPr/>
        </p:nvPicPr>
        <p:blipFill>
          <a:blip r:embed="rId2">
            <a:alphaModFix amt="0"/>
          </a:blip>
          <a:stretch/>
        </p:blipFill>
        <p:spPr>
          <a:xfrm>
            <a:off x="6629400" y="4326840"/>
            <a:ext cx="1600200" cy="930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"/>
          <p:cNvPicPr/>
          <p:nvPr/>
        </p:nvPicPr>
        <p:blipFill>
          <a:blip r:embed="rId3">
            <a:alphaModFix amt="0"/>
          </a:blip>
          <a:stretch/>
        </p:blipFill>
        <p:spPr>
          <a:xfrm>
            <a:off x="7543800" y="225720"/>
            <a:ext cx="2239920" cy="223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" name=""/>
          <p:cNvPicPr/>
          <p:nvPr/>
        </p:nvPicPr>
        <p:blipFill>
          <a:blip r:embed="rId4">
            <a:alphaModFix amt="0"/>
          </a:blip>
          <a:stretch/>
        </p:blipFill>
        <p:spPr>
          <a:xfrm>
            <a:off x="6400800" y="2514600"/>
            <a:ext cx="1054440" cy="887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" name=""/>
          <p:cNvPicPr/>
          <p:nvPr/>
        </p:nvPicPr>
        <p:blipFill>
          <a:blip r:embed="rId5">
            <a:alphaModFix amt="0"/>
          </a:blip>
          <a:stretch/>
        </p:blipFill>
        <p:spPr>
          <a:xfrm>
            <a:off x="7673760" y="2337480"/>
            <a:ext cx="914400" cy="10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"/>
          <p:cNvSpPr txBox="1"/>
          <p:nvPr/>
        </p:nvSpPr>
        <p:spPr>
          <a:xfrm>
            <a:off x="9144000" y="5257800"/>
            <a:ext cx="846000" cy="40140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[1,2,3]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964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chemeClr val="lt1">
                    <a:lumOff val="0"/>
                  </a:schemeClr>
                </a:solidFill>
                <a:effectLst/>
                <a:uFillTx/>
                <a:latin typeface="3270 Nerd Font"/>
              </a:rPr>
              <a:t>Was ist ein Mikrocontroller?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5668560" cy="393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Kleiner Computer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CPU, Arbeitsspeicher und Peripherie auf einem Chip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Heute häufig noch andere Funktionen</a:t>
            </a: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 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" name=""/>
          <p:cNvPicPr/>
          <p:nvPr/>
        </p:nvPicPr>
        <p:blipFill>
          <a:blip r:embed="rId1">
            <a:alphaModFix amt="68000"/>
          </a:blip>
          <a:stretch/>
        </p:blipFill>
        <p:spPr>
          <a:xfrm>
            <a:off x="7507800" y="2971800"/>
            <a:ext cx="2057400" cy="2057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"/>
          <p:cNvPicPr/>
          <p:nvPr/>
        </p:nvPicPr>
        <p:blipFill>
          <a:blip r:embed="rId2">
            <a:alphaModFix amt="68000"/>
          </a:blip>
          <a:stretch/>
        </p:blipFill>
        <p:spPr>
          <a:xfrm>
            <a:off x="6629400" y="1143000"/>
            <a:ext cx="2935800" cy="195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"/>
          <p:cNvSpPr txBox="1"/>
          <p:nvPr/>
        </p:nvSpPr>
        <p:spPr>
          <a:xfrm>
            <a:off x="9369360" y="5257800"/>
            <a:ext cx="653760" cy="40140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[4,5]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iming>
    <p:tnLst>
      <p:par>
        <p:cTn id="43" dur="indefinite" restart="never" nodeType="tmRoot">
          <p:childTnLst>
            <p:seq>
              <p:cTn id="44" dur="indefinite" nodeType="mainSeq">
                <p:childTnLst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3640" y="87480"/>
            <a:ext cx="9068760" cy="12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Was ist der Unterschied zu einem Mikroprozessor?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" name=""/>
          <p:cNvGraphicFramePr/>
          <p:nvPr/>
        </p:nvGraphicFramePr>
        <p:xfrm>
          <a:off x="501840" y="1464840"/>
          <a:ext cx="9068400" cy="3917520"/>
        </p:xfrm>
        <a:graphic>
          <a:graphicData uri="http://schemas.openxmlformats.org/drawingml/2006/table">
            <a:tbl>
              <a:tblPr/>
              <a:tblGrid>
                <a:gridCol w="4534200"/>
                <a:gridCol w="4534560"/>
              </a:tblGrid>
              <a:tr h="67716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US" sz="2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3270 Nerd Font"/>
                        </a:rPr>
                        <a:t>Mikroprozessor (MPU)</a:t>
                      </a:r>
                      <a:endParaRPr lang="en-US" sz="2800" b="1" u="none" strike="noStrike">
                        <a:solidFill>
                          <a:srgbClr val="FFFFFF"/>
                        </a:solidFill>
                        <a:effectLst/>
                        <a:uFillTx/>
                        <a:latin typeface="3270 Nerd Font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US" sz="2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3270 Nerd Font"/>
                        </a:rPr>
                        <a:t>Mikrocontroller (MCU)</a:t>
                      </a:r>
                      <a:endParaRPr lang="en-US" sz="2800" b="1" u="none" strike="noStrike">
                        <a:solidFill>
                          <a:srgbClr val="FFFFFF"/>
                        </a:solidFill>
                        <a:effectLst/>
                        <a:uFillTx/>
                        <a:latin typeface="3270 Nerd Font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80964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US" sz="2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3270 Nerd Font"/>
                        </a:rPr>
                        <a:t>nur CPU</a:t>
                      </a:r>
                      <a:endParaRPr lang="en-US" sz="2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3270 Nerd Font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US" sz="2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3270 Nerd Font"/>
                        </a:rPr>
                        <a:t>CPU + RAM + ROM + Peripherie </a:t>
                      </a:r>
                      <a:endParaRPr lang="en-US" sz="2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3270 Nerd Font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80964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US" sz="2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3270 Nerd Font"/>
                        </a:rPr>
                        <a:t>hoher Stromverbrauch </a:t>
                      </a:r>
                      <a:endParaRPr lang="en-US" sz="2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3270 Nerd Font"/>
                      </a:endParaRPr>
                    </a:p>
                    <a:p>
                      <a:pPr indent="0" algn="l">
                        <a:buNone/>
                      </a:pPr>
                      <a:r>
                        <a:rPr lang="en-US" sz="2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3270 Nerd Font"/>
                        </a:rPr>
                        <a:t>(benötigt eine Kühlung)</a:t>
                      </a:r>
                      <a:endParaRPr lang="en-US" sz="2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3270 Nerd Font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US" sz="2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3270 Nerd Font"/>
                        </a:rPr>
                        <a:t>niedriger Stromverbrauch</a:t>
                      </a:r>
                      <a:endParaRPr lang="en-US" sz="2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3270 Nerd Font"/>
                      </a:endParaRPr>
                    </a:p>
                    <a:p>
                      <a:pPr indent="0" algn="l">
                        <a:buNone/>
                      </a:pPr>
                      <a:r>
                        <a:rPr lang="en-US" sz="2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3270 Nerd Font"/>
                        </a:rPr>
                        <a:t>(für den Batteriebetrieb)</a:t>
                      </a:r>
                      <a:endParaRPr lang="en-US" sz="2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3270 Nerd Font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81072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US" sz="2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3270 Nerd Font"/>
                        </a:rPr>
                        <a:t>Rechenintensive Anwendungen</a:t>
                      </a:r>
                      <a:endParaRPr lang="en-US" sz="2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3270 Nerd Font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US" sz="2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3270 Nerd Font"/>
                        </a:rPr>
                        <a:t>Steuerung von Geräten</a:t>
                      </a:r>
                      <a:endParaRPr lang="en-US" sz="2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3270 Nerd Font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81072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US" sz="2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3270 Nerd Font"/>
                        </a:rPr>
                        <a:t>teuer: über 100€</a:t>
                      </a:r>
                      <a:endParaRPr lang="en-US" sz="2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3270 Nerd Font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US" sz="2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3270 Nerd Font"/>
                        </a:rPr>
                        <a:t>günstig: ein paar Cent bis wenige Euro</a:t>
                      </a:r>
                      <a:endParaRPr lang="en-US" sz="2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3270 Nerd Font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Der erste Mikrocontroller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3640" y="1172160"/>
            <a:ext cx="9068760" cy="141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4"/>
              </a:spcBef>
              <a:buNone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  <a:ea typeface="Noto Sans CJK SC"/>
              </a:rPr>
              <a:t>September 1971: Texas Instruments baute den ersten Mikrocontroller, </a:t>
            </a:r>
            <a:br>
              <a:rPr sz="3200"/>
            </a:b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  <a:ea typeface="Noto Sans CJK SC"/>
              </a:rPr>
              <a:t>den TMS 1802 NC.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" name=""/>
          <p:cNvPicPr/>
          <p:nvPr/>
        </p:nvPicPr>
        <p:blipFill>
          <a:blip r:embed="rId1">
            <a:alphaModFix amt="0"/>
          </a:blip>
          <a:stretch/>
        </p:blipFill>
        <p:spPr>
          <a:xfrm rot="5403000">
            <a:off x="1629360" y="1346760"/>
            <a:ext cx="2737440" cy="553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"/>
          <p:cNvSpPr txBox="1"/>
          <p:nvPr/>
        </p:nvSpPr>
        <p:spPr>
          <a:xfrm>
            <a:off x="9601200" y="5257800"/>
            <a:ext cx="461880" cy="40140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[9]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Der erste Mikrocontroller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503640" y="1172160"/>
            <a:ext cx="9068760" cy="141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4"/>
              </a:spcBef>
              <a:buNone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Der TMS 1802 NC kam danach als Teil der TMS0100 Serie 1974 auf den Markt  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"/>
          <p:cNvPicPr/>
          <p:nvPr/>
        </p:nvPicPr>
        <p:blipFill>
          <a:blip r:embed="rId1">
            <a:alphaModFix amt="0"/>
          </a:blip>
          <a:stretch/>
        </p:blipFill>
        <p:spPr>
          <a:xfrm rot="5404200">
            <a:off x="1437120" y="1892880"/>
            <a:ext cx="2376360" cy="48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"/>
          <p:cNvSpPr txBox="1"/>
          <p:nvPr/>
        </p:nvSpPr>
        <p:spPr>
          <a:xfrm>
            <a:off x="9601200" y="5257800"/>
            <a:ext cx="653760" cy="40140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[9]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Der erste Mikrocontroller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5257800" y="1371600"/>
            <a:ext cx="4314600" cy="388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Damals 20$,  heute 165$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4-Bit CPU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300 kHz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182 Bit RAM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" name=""/>
          <p:cNvPicPr/>
          <p:nvPr/>
        </p:nvPicPr>
        <p:blipFill>
          <a:blip r:embed="rId1">
            <a:alphaModFix amt="0"/>
          </a:blip>
          <a:stretch/>
        </p:blipFill>
        <p:spPr>
          <a:xfrm rot="5405400">
            <a:off x="1442160" y="1897560"/>
            <a:ext cx="2372400" cy="479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"/>
          <p:cNvSpPr txBox="1"/>
          <p:nvPr/>
        </p:nvSpPr>
        <p:spPr>
          <a:xfrm>
            <a:off x="9572400" y="5257800"/>
            <a:ext cx="461880" cy="40140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[9]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Der erste Mikroprozessor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503640" y="1176840"/>
            <a:ext cx="9097560" cy="141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4"/>
              </a:spcBef>
              <a:buNone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November 1971: Der Intel 4004</a:t>
            </a: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 ist der erste Mikroprozessor auf einem einzigen C</a:t>
            </a: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hip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" name=""/>
          <p:cNvPicPr/>
          <p:nvPr/>
        </p:nvPicPr>
        <p:blipFill>
          <a:blip r:embed="rId1">
            <a:alphaModFix amt="0"/>
          </a:blip>
          <a:stretch/>
        </p:blipFill>
        <p:spPr>
          <a:xfrm>
            <a:off x="228600" y="2593800"/>
            <a:ext cx="4343400" cy="28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"/>
          <p:cNvSpPr txBox="1"/>
          <p:nvPr/>
        </p:nvSpPr>
        <p:spPr>
          <a:xfrm>
            <a:off x="9572400" y="5257800"/>
            <a:ext cx="461880" cy="40140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[6]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5077080" y="2396880"/>
            <a:ext cx="4524120" cy="2860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 marL="216000" indent="-216000"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Man benötigt externe Chips für Speicher und Peripherie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iming>
    <p:tnLst>
      <p:par>
        <p:cTn id="65" dur="indefinite" restart="never" nodeType="tmRoot">
          <p:childTnLst>
            <p:seq>
              <p:cTn id="66" dur="indefinite" nodeType="mainSeq">
                <p:childTnLst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Der erste Mikroprozessor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" name=""/>
          <p:cNvPicPr/>
          <p:nvPr/>
        </p:nvPicPr>
        <p:blipFill>
          <a:blip r:embed="rId1">
            <a:alphaModFix amt="0"/>
          </a:blip>
          <a:stretch/>
        </p:blipFill>
        <p:spPr>
          <a:xfrm>
            <a:off x="228600" y="2593800"/>
            <a:ext cx="4343400" cy="28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"/>
          <p:cNvSpPr txBox="1"/>
          <p:nvPr/>
        </p:nvSpPr>
        <p:spPr>
          <a:xfrm>
            <a:off x="9572400" y="5257800"/>
            <a:ext cx="461880" cy="40140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[6]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077080" y="1371600"/>
            <a:ext cx="4524120" cy="3886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 marL="216000" indent="-216000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Damals 60$ heute 480$ 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4-Bit CPU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1 Kern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740 - 750 kHz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iming>
    <p:tnLst>
      <p:par>
        <p:cTn id="77" dur="indefinite" restart="never" nodeType="tmRoot">
          <p:childTnLst>
            <p:seq>
              <p:cTn id="78" dur="indefinite" nodeType="mainSeq">
                <p:childTnLst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Moderne Mikroprozessoren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3657600" y="1326240"/>
            <a:ext cx="5914800" cy="393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marL="216000" indent="-216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Januar 2026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490€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64-Bit CPU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8 Kerne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4,7 – 5,6 GHz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l">
              <a:spcBef>
                <a:spcPts val="1414"/>
              </a:spcBef>
              <a:buClr>
                <a:srgbClr val="FFFFFF"/>
              </a:buClr>
              <a:buSzPct val="85000"/>
              <a:buFont typeface="Symbol" charset="2"/>
              <a:buChar char=""/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 Mehr als 7000-mal schneller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9484200" y="5267880"/>
            <a:ext cx="592560" cy="40140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[11]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"/>
          <p:cNvPicPr/>
          <p:nvPr/>
        </p:nvPicPr>
        <p:blipFill>
          <a:blip r:embed="rId1">
            <a:alphaModFix amt="0"/>
          </a:blip>
          <a:srcRect l="28307" t="15792" r="28046" b="15759"/>
          <a:stretch/>
        </p:blipFill>
        <p:spPr>
          <a:xfrm>
            <a:off x="228960" y="2514600"/>
            <a:ext cx="2742840" cy="2971440"/>
          </a:xfrm>
          <a:prstGeom prst="rect">
            <a:avLst/>
          </a:prstGeom>
          <a:noFill/>
          <a:ln w="0">
            <a:noFill/>
          </a:ln>
        </p:spPr>
      </p:pic>
    </p:spTree>
  </p:cSld>
  <p:timing>
    <p:tnLst>
      <p:par>
        <p:cTn id="87" dur="indefinite" restart="never" nodeType="tmRoot">
          <p:childTnLst>
            <p:seq>
              <p:cTn id="88" dur="indefinite" nodeType="mainSeq">
                <p:childTnLst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Moderne Mikrocontroller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3657600" y="1326240"/>
            <a:ext cx="5914800" cy="393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216000" indent="-216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August 2024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1€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32-Bit CPU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150 MHz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520 KB RAM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9484200" y="5267880"/>
            <a:ext cx="592560" cy="40140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[12]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" name=""/>
          <p:cNvPicPr/>
          <p:nvPr/>
        </p:nvPicPr>
        <p:blipFill>
          <a:blip r:embed="rId1">
            <a:alphaModFix amt="0"/>
          </a:blip>
          <a:stretch/>
        </p:blipFill>
        <p:spPr>
          <a:xfrm>
            <a:off x="343080" y="2514600"/>
            <a:ext cx="2857320" cy="2857320"/>
          </a:xfrm>
          <a:prstGeom prst="rect">
            <a:avLst/>
          </a:prstGeom>
          <a:noFill/>
          <a:ln w="0">
            <a:noFill/>
          </a:ln>
        </p:spPr>
      </p:pic>
    </p:spTree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Aufbau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9068760" cy="393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Prozessor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RAM (Random-access memory)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ROM (Read-only memory)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A/D Converter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Timer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Interrupts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Bus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9572400" y="5257800"/>
            <a:ext cx="461880" cy="40140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[7]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" name=""/>
          <p:cNvPicPr/>
          <p:nvPr/>
        </p:nvPicPr>
        <p:blipFill>
          <a:blip r:embed="rId1">
            <a:alphaModFix amt="0"/>
          </a:blip>
          <a:stretch/>
        </p:blipFill>
        <p:spPr>
          <a:xfrm>
            <a:off x="6177600" y="3657600"/>
            <a:ext cx="3566160" cy="1371600"/>
          </a:xfrm>
          <a:prstGeom prst="rect">
            <a:avLst/>
          </a:prstGeom>
          <a:noFill/>
          <a:ln w="0">
            <a:noFill/>
          </a:ln>
        </p:spPr>
      </p:pic>
    </p:spTree>
  </p:cSld>
  <p:timing>
    <p:tnLst>
      <p:par>
        <p:cTn id="101" dur="indefinite" restart="never" nodeType="tmRoot">
          <p:childTnLst>
            <p:seq>
              <p:cTn id="102" dur="indefinite" nodeType="mainSeq">
                <p:childTnLst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"/>
          <p:cNvPicPr/>
          <p:nvPr/>
        </p:nvPicPr>
        <p:blipFill>
          <a:blip r:embed="rId1">
            <a:alphaModFix amt="0"/>
          </a:blip>
          <a:stretch/>
        </p:blipFill>
        <p:spPr>
          <a:xfrm>
            <a:off x="1293840" y="1325880"/>
            <a:ext cx="7487640" cy="393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" name=""/>
          <p:cNvPicPr/>
          <p:nvPr/>
        </p:nvPicPr>
        <p:blipFill>
          <a:blip r:embed="rId2">
            <a:alphaModFix amt="0"/>
          </a:blip>
          <a:stretch/>
        </p:blipFill>
        <p:spPr>
          <a:xfrm>
            <a:off x="-369720" y="0"/>
            <a:ext cx="10797840" cy="566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"/>
          <p:cNvSpPr txBox="1"/>
          <p:nvPr/>
        </p:nvSpPr>
        <p:spPr>
          <a:xfrm>
            <a:off x="9484200" y="5085000"/>
            <a:ext cx="592560" cy="40140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[10]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Wie funktioniert ein MC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9068760" cy="393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Die CPU liest das Programm aus dem ROM aus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Die CPU decodiert den Befehl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Die CPU führt den Befehl aus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Pro Takt wird ein Befehl ausgeführt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414"/>
              </a:spcBef>
              <a:buNone/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(16 MHz → 16.000.000 Befehle pro Sekunde)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iming>
    <p:tnLst>
      <p:par>
        <p:cTn id="129" dur="indefinite" restart="never" nodeType="tmRoot">
          <p:childTnLst>
            <p:seq>
              <p:cTn id="130" dur="indefinite" nodeType="mainSeq">
                <p:childTnLst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Was genau macht die CPU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9068760" cy="393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Kontrolleinheit: verarbeitet die Befehle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Was genau macht die CPU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" name=""/>
          <p:cNvPicPr/>
          <p:nvPr/>
        </p:nvPicPr>
        <p:blipFill>
          <a:blip r:embed="rId1">
            <a:alphaModFix amt="0"/>
          </a:blip>
          <a:stretch/>
        </p:blipFill>
        <p:spPr>
          <a:xfrm>
            <a:off x="2165400" y="1325880"/>
            <a:ext cx="5744880" cy="3931560"/>
          </a:xfrm>
          <a:prstGeom prst="rect">
            <a:avLst/>
          </a:prstGeom>
          <a:noFill/>
          <a:ln w="0">
            <a:noFill/>
          </a:ln>
        </p:spPr>
      </p:pic>
    </p:spTree>
  </p:cSld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Was genau macht die CPU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9068760" cy="393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Kontrolleinheit: verarbeitet die Befehle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Arithmetisch-logische Einheit: führt Berechnungen durch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Was genau macht die CPU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" name=""/>
          <p:cNvPicPr/>
          <p:nvPr/>
        </p:nvPicPr>
        <p:blipFill>
          <a:blip r:embed="rId1">
            <a:alphaModFix amt="0"/>
          </a:blip>
          <a:stretch/>
        </p:blipFill>
        <p:spPr>
          <a:xfrm>
            <a:off x="2165400" y="1325880"/>
            <a:ext cx="5744880" cy="3931560"/>
          </a:xfrm>
          <a:prstGeom prst="rect">
            <a:avLst/>
          </a:prstGeom>
          <a:noFill/>
          <a:ln w="0">
            <a:noFill/>
          </a:ln>
        </p:spPr>
      </p:pic>
    </p:spTree>
  </p:cSld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Was genau macht die CPU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9068760" cy="393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Kontrolleinheit: verarbeitet die Befehle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Arithmetisch-logische Einheit: führt Berechnungen durch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Register: extrem schnelle Zwischenspeicher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191"/>
              </a:spcBef>
              <a:spcAft>
                <a:spcPts val="992"/>
              </a:spcAft>
              <a:buNone/>
            </a:pP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Was genau macht die CPU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" name=""/>
          <p:cNvPicPr/>
          <p:nvPr/>
        </p:nvPicPr>
        <p:blipFill>
          <a:blip r:embed="rId1">
            <a:alphaModFix amt="0"/>
          </a:blip>
          <a:stretch/>
        </p:blipFill>
        <p:spPr>
          <a:xfrm>
            <a:off x="2165400" y="1325880"/>
            <a:ext cx="5744880" cy="3931560"/>
          </a:xfrm>
          <a:prstGeom prst="rect">
            <a:avLst/>
          </a:prstGeom>
          <a:noFill/>
          <a:ln w="0">
            <a:noFill/>
          </a:ln>
        </p:spPr>
      </p:pic>
    </p:spTree>
  </p:cSld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Was genau macht die CPU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9068760" cy="393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Kontrolleinheit: verarbeitet die Befehle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Arithmetisch-logische Einheit: führt Berechnungen durch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Register: extrem schnelle Zwischenspeicher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(</a:t>
            </a: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Clock: erzeugt einen Takt für die CPU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)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Programmierung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9068760" cy="393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MC werden in maschinennahen Programmiersprachen programmiert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Direkter Zugriff auf den Speicher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" name=""/>
          <p:cNvPicPr/>
          <p:nvPr/>
        </p:nvPicPr>
        <p:blipFill>
          <a:blip r:embed="rId1">
            <a:alphaModFix amt="0"/>
          </a:blip>
          <a:stretch/>
        </p:blipFill>
        <p:spPr>
          <a:xfrm>
            <a:off x="854280" y="3139200"/>
            <a:ext cx="1431720" cy="189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" name=""/>
          <p:cNvPicPr/>
          <p:nvPr/>
        </p:nvPicPr>
        <p:blipFill>
          <a:blip r:embed="rId2">
            <a:alphaModFix amt="0"/>
          </a:blip>
          <a:stretch/>
        </p:blipFill>
        <p:spPr>
          <a:xfrm>
            <a:off x="2801880" y="3138120"/>
            <a:ext cx="1902960" cy="1891080"/>
          </a:xfrm>
          <a:prstGeom prst="rect">
            <a:avLst/>
          </a:prstGeom>
          <a:noFill/>
          <a:ln w="0">
            <a:noFill/>
          </a:ln>
        </p:spPr>
      </p:pic>
    </p:spTree>
  </p:cSld>
  <p:timing>
    <p:tnLst>
      <p:par>
        <p:cTn id="147" dur="indefinite" restart="never" nodeType="tmRoot">
          <p:childTnLst>
            <p:seq>
              <p:cTn id="148" dur="indefinite" nodeType="mainSeq">
                <p:childTnLst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Programmierung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9068760" cy="393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Angepasst an spezifische Entwicklungsboards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2" name=""/>
          <p:cNvPicPr/>
          <p:nvPr/>
        </p:nvPicPr>
        <p:blipFill>
          <a:blip r:embed="rId1">
            <a:alphaModFix amt="0"/>
          </a:blip>
          <a:stretch/>
        </p:blipFill>
        <p:spPr>
          <a:xfrm>
            <a:off x="503640" y="3383640"/>
            <a:ext cx="1874160" cy="1874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"/>
          <p:cNvPicPr/>
          <p:nvPr/>
        </p:nvPicPr>
        <p:blipFill>
          <a:blip r:embed="rId2">
            <a:alphaModFix amt="0"/>
          </a:blip>
          <a:stretch/>
        </p:blipFill>
        <p:spPr>
          <a:xfrm>
            <a:off x="2801880" y="3200400"/>
            <a:ext cx="2057400" cy="2057400"/>
          </a:xfrm>
          <a:prstGeom prst="rect">
            <a:avLst/>
          </a:prstGeom>
          <a:noFill/>
          <a:ln w="0">
            <a:noFill/>
          </a:ln>
        </p:spPr>
      </p:pic>
    </p:spTree>
  </p:cSld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Mein Projekt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9068760" cy="393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Todo: Bild einfügen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iming>
    <p:tnLst>
      <p:par>
        <p:cTn id="165" dur="indefinite" restart="never" nodeType="tmRoot">
          <p:childTnLst>
            <p:seq>
              <p:cTn id="166" dur="indefinite" nodeType="mainSeq">
                <p:childTnLst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Quellen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326240"/>
            <a:ext cx="9115200" cy="393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- https://en.wikipedia.org/wiki/Microcontroller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- https://en.wikipedia.org/wiki/Microprocessor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- https://en.wikipedia.org/wiki/ATmega328#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- https://ww1.microchip.com/downloads/aemDocuments/documents/MCU08/ProductDocuments/DataSheets/ATmega48A-PA-88A-PA-168A-PA-328-P-DS-DS40002061B.pdf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- https://en.wikipedia.org/wiki/AVR_microcontrollers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- https://web.archive.org/web/20100217065617/http://smithsonianchips.si.edu/augarten/p38.htm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- https://historydraft.com/story/microprocessor/tms-1802nc/425/6336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- https://www.amd.com/en/products/processors/desktops/ryzen/9000-series/amd-ryzen-7-9850x3d.html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- https://en.wikipedia.org/wiki/Intel_4004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- https://en.wikipedia.org/wiki/RP2350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- Taschenbuch Mikroprozessortechnik von Thomas Beierlein und Olaf Hagenbruch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-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ubTitle"/>
          </p:nvPr>
        </p:nvSpPr>
        <p:spPr>
          <a:xfrm>
            <a:off x="532440" y="640800"/>
            <a:ext cx="9068760" cy="438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3270 Nerd Font"/>
              </a:rPr>
              <a:t>Fragen?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3907</TotalTime>
  <Application>LibreOffice/26.2.3.2$Linux_X86_64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2026-03-19T18:40:16Z</dcterms:created>
  <dc:creator/>
  <dc:description/>
  <dc:language>en-US</dc:language>
  <cp:lastModifiedBy/>
  <cp:lastPrinted>2026-04-17T21:49:29Z</cp:lastPrinted>
  <dcterms:modified xsi:type="dcterms:W3CDTF">2026-06-16T23:43:10Z</dcterms:modified>
  <cp:revision>139</cp:revision>
  <dc:subject/>
  <dc:title/>
</cp:coreProperties>
</file>