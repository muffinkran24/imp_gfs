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</p:sldIdLst>
  <p:sldSz cx="10077450" cy="5668963"/>
  <p:notesSz cx="7772400" cy="100584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503640" y="225720"/>
            <a:ext cx="906876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503640" y="1326240"/>
            <a:ext cx="9068760" cy="3287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4"/>
              </a:spcBef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B34DE786-1E43-4F7E-A7F2-550123FBA334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503640" y="225720"/>
            <a:ext cx="906876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B6AF4874-CAAB-478E-9699-8A96A3EA0B6B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503640" y="225720"/>
            <a:ext cx="906876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503640" y="1326240"/>
            <a:ext cx="9068760" cy="3287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4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spcBef>
                <a:spcPts val="113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spcBef>
                <a:spcPts val="848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spcBef>
                <a:spcPts val="281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spcBef>
                <a:spcPts val="281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spcBef>
                <a:spcPts val="281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dt" idx="1"/>
          </p:nvPr>
        </p:nvSpPr>
        <p:spPr>
          <a:xfrm>
            <a:off x="503640" y="5164560"/>
            <a:ext cx="2347560" cy="390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>
          <a:xfrm>
            <a:off x="3445920" y="5164560"/>
            <a:ext cx="3193920" cy="390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>
          <a:xfrm>
            <a:off x="7224840" y="5164560"/>
            <a:ext cx="2347560" cy="390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FDF46100-0C62-40E0-B7ED-9574C9640918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1.jpeg"/><Relationship Id="rId2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gradFill rotWithShape="0">
          <a:gsLst>
            <a:gs pos="0">
              <a:srgbClr val="282828"/>
            </a:gs>
            <a:gs pos="100000">
              <a:srgbClr val="1d2021"/>
            </a:gs>
          </a:gsLst>
          <a:path path="rect">
            <a:fillToRect l="50000" t="50000" r="50000" b="50000"/>
          </a:path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title"/>
          </p:nvPr>
        </p:nvSpPr>
        <p:spPr>
          <a:xfrm>
            <a:off x="457200" y="1976760"/>
            <a:ext cx="9068760" cy="1108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r>
              <a:rPr lang="en-US" sz="8000" b="1" u="none" strike="noStrike">
                <a:solidFill>
                  <a:schemeClr val="lt1">
                    <a:lumMod val="85000"/>
                    <a:lumOff val="0"/>
                  </a:schemeClr>
                </a:solidFill>
                <a:effectLst/>
                <a:uFillTx/>
                <a:latin typeface="3270 Nerd Font"/>
              </a:rPr>
              <a:t>Mikrocontroller</a:t>
            </a:r>
            <a:endParaRPr lang="en-US" sz="8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gradFill rotWithShape="0">
          <a:gsLst>
            <a:gs pos="0">
              <a:srgbClr val="282828"/>
            </a:gs>
            <a:gs pos="100000">
              <a:srgbClr val="1d2021"/>
            </a:gs>
          </a:gsLst>
          <a:path path="rect">
            <a:fillToRect l="50000" t="50000" r="50000" b="50000"/>
          </a:path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503640" y="225720"/>
            <a:ext cx="906876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r>
              <a:rPr lang="en-US" sz="4400" b="1" u="none" strike="noStrike">
                <a:solidFill>
                  <a:srgbClr val="ffffff"/>
                </a:solidFill>
                <a:effectLst/>
                <a:uFillTx/>
                <a:latin typeface="3270 Nerd Font"/>
              </a:rPr>
              <a:t>Inhalt</a:t>
            </a:r>
            <a:endParaRPr lang="en-US" sz="4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" name=""/>
          <p:cNvSpPr/>
          <p:nvPr/>
        </p:nvSpPr>
        <p:spPr>
          <a:xfrm>
            <a:off x="228600" y="1172160"/>
            <a:ext cx="2057400" cy="4114800"/>
          </a:xfrm>
          <a:custGeom>
            <a:avLst/>
            <a:gdLst>
              <a:gd name="textAreaLeft" fmla="*/ 80280 w 2057400"/>
              <a:gd name="textAreaRight" fmla="*/ 1977120 w 2057400"/>
              <a:gd name="textAreaTop" fmla="*/ 80280 h 4114800"/>
              <a:gd name="textAreaBottom" fmla="*/ 4034520 h 4114800"/>
            </a:gdLst>
            <a:ahLst/>
            <a:cxnLst/>
            <a:rect l="textAreaLeft" t="textAreaTop" r="textAreaRight" b="textAreaBottom"/>
            <a:pathLst>
              <a:path w="21600" h="43196">
                <a:moveTo>
                  <a:pt x="2879" y="0"/>
                </a:moveTo>
                <a:arcTo wR="2879" hR="2879" stAng="16200000" swAng="-5400000"/>
                <a:lnTo>
                  <a:pt x="0" y="40317"/>
                </a:lnTo>
                <a:arcTo wR="2879" hR="2879" stAng="10800000" swAng="-5400000"/>
                <a:lnTo>
                  <a:pt x="18721" y="43196"/>
                </a:lnTo>
                <a:arcTo wR="2879" hR="2879" stAng="5400000" swAng="-5400000"/>
                <a:lnTo>
                  <a:pt x="21600" y="2879"/>
                </a:lnTo>
                <a:arcTo wR="2879" hR="2879" stAng="0" swAng="-5400000"/>
                <a:close/>
              </a:path>
            </a:pathLst>
          </a:custGeom>
          <a:solidFill>
            <a:schemeClr val="dk1">
              <a:lumMod val="75000"/>
              <a:lumOff val="25000"/>
            </a:schemeClr>
          </a:solidFill>
          <a:ln w="0">
            <a:solidFill>
              <a:schemeClr val="lt1">
                <a:lumOff val="0"/>
              </a:schemeClr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" name=""/>
          <p:cNvSpPr/>
          <p:nvPr/>
        </p:nvSpPr>
        <p:spPr>
          <a:xfrm>
            <a:off x="2743200" y="1143000"/>
            <a:ext cx="2057400" cy="4114800"/>
          </a:xfrm>
          <a:custGeom>
            <a:avLst/>
            <a:gdLst>
              <a:gd name="textAreaLeft" fmla="*/ 80280 w 2057400"/>
              <a:gd name="textAreaRight" fmla="*/ 1977120 w 2057400"/>
              <a:gd name="textAreaTop" fmla="*/ 80280 h 4114800"/>
              <a:gd name="textAreaBottom" fmla="*/ 4034520 h 4114800"/>
            </a:gdLst>
            <a:ahLst/>
            <a:cxnLst/>
            <a:rect l="textAreaLeft" t="textAreaTop" r="textAreaRight" b="textAreaBottom"/>
            <a:pathLst>
              <a:path w="21600" h="43196">
                <a:moveTo>
                  <a:pt x="2879" y="0"/>
                </a:moveTo>
                <a:arcTo wR="2879" hR="2879" stAng="16200000" swAng="-5400000"/>
                <a:lnTo>
                  <a:pt x="0" y="40317"/>
                </a:lnTo>
                <a:arcTo wR="2879" hR="2879" stAng="10800000" swAng="-5400000"/>
                <a:lnTo>
                  <a:pt x="18721" y="43196"/>
                </a:lnTo>
                <a:arcTo wR="2879" hR="2879" stAng="5400000" swAng="-5400000"/>
                <a:lnTo>
                  <a:pt x="21600" y="2879"/>
                </a:lnTo>
                <a:arcTo wR="2879" hR="2879" stAng="0" swAng="-5400000"/>
                <a:close/>
              </a:path>
            </a:pathLst>
          </a:custGeom>
          <a:solidFill>
            <a:schemeClr val="dk1">
              <a:lumMod val="75000"/>
              <a:lumOff val="25000"/>
            </a:schemeClr>
          </a:solidFill>
          <a:ln w="0">
            <a:solidFill>
              <a:schemeClr val="lt1">
                <a:lumOff val="0"/>
              </a:schemeClr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" name=""/>
          <p:cNvSpPr/>
          <p:nvPr/>
        </p:nvSpPr>
        <p:spPr>
          <a:xfrm>
            <a:off x="5257800" y="1143000"/>
            <a:ext cx="2057400" cy="4114800"/>
          </a:xfrm>
          <a:custGeom>
            <a:avLst/>
            <a:gdLst>
              <a:gd name="textAreaLeft" fmla="*/ 80280 w 2057400"/>
              <a:gd name="textAreaRight" fmla="*/ 1977120 w 2057400"/>
              <a:gd name="textAreaTop" fmla="*/ 80280 h 4114800"/>
              <a:gd name="textAreaBottom" fmla="*/ 4034520 h 4114800"/>
            </a:gdLst>
            <a:ahLst/>
            <a:cxnLst/>
            <a:rect l="textAreaLeft" t="textAreaTop" r="textAreaRight" b="textAreaBottom"/>
            <a:pathLst>
              <a:path w="21600" h="43196">
                <a:moveTo>
                  <a:pt x="2879" y="0"/>
                </a:moveTo>
                <a:arcTo wR="2879" hR="2879" stAng="16200000" swAng="-5400000"/>
                <a:lnTo>
                  <a:pt x="0" y="40317"/>
                </a:lnTo>
                <a:arcTo wR="2879" hR="2879" stAng="10800000" swAng="-5400000"/>
                <a:lnTo>
                  <a:pt x="18721" y="43196"/>
                </a:lnTo>
                <a:arcTo wR="2879" hR="2879" stAng="5400000" swAng="-5400000"/>
                <a:lnTo>
                  <a:pt x="21600" y="2879"/>
                </a:lnTo>
                <a:arcTo wR="2879" hR="2879" stAng="0" swAng="-5400000"/>
                <a:close/>
              </a:path>
            </a:pathLst>
          </a:custGeom>
          <a:solidFill>
            <a:schemeClr val="dk1">
              <a:lumMod val="75000"/>
              <a:lumOff val="25000"/>
            </a:schemeClr>
          </a:solidFill>
          <a:ln w="0">
            <a:solidFill>
              <a:schemeClr val="lt1">
                <a:lumOff val="0"/>
              </a:schemeClr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" name=""/>
          <p:cNvSpPr/>
          <p:nvPr/>
        </p:nvSpPr>
        <p:spPr>
          <a:xfrm>
            <a:off x="7772400" y="1143000"/>
            <a:ext cx="2057400" cy="4114800"/>
          </a:xfrm>
          <a:custGeom>
            <a:avLst/>
            <a:gdLst>
              <a:gd name="textAreaLeft" fmla="*/ 80280 w 2057400"/>
              <a:gd name="textAreaRight" fmla="*/ 1977120 w 2057400"/>
              <a:gd name="textAreaTop" fmla="*/ 80280 h 4114800"/>
              <a:gd name="textAreaBottom" fmla="*/ 4034520 h 4114800"/>
            </a:gdLst>
            <a:ahLst/>
            <a:cxnLst/>
            <a:rect l="textAreaLeft" t="textAreaTop" r="textAreaRight" b="textAreaBottom"/>
            <a:pathLst>
              <a:path w="21600" h="43196">
                <a:moveTo>
                  <a:pt x="2879" y="0"/>
                </a:moveTo>
                <a:arcTo wR="2879" hR="2879" stAng="16200000" swAng="-5400000"/>
                <a:lnTo>
                  <a:pt x="0" y="40317"/>
                </a:lnTo>
                <a:arcTo wR="2879" hR="2879" stAng="10800000" swAng="-5400000"/>
                <a:lnTo>
                  <a:pt x="18721" y="43196"/>
                </a:lnTo>
                <a:arcTo wR="2879" hR="2879" stAng="5400000" swAng="-5400000"/>
                <a:lnTo>
                  <a:pt x="21600" y="2879"/>
                </a:lnTo>
                <a:arcTo wR="2879" hR="2879" stAng="0" swAng="-5400000"/>
                <a:close/>
              </a:path>
            </a:pathLst>
          </a:custGeom>
          <a:solidFill>
            <a:schemeClr val="dk1">
              <a:lumMod val="75000"/>
              <a:lumOff val="25000"/>
            </a:schemeClr>
          </a:solidFill>
          <a:ln w="0">
            <a:solidFill>
              <a:schemeClr val="lt1">
                <a:lumOff val="0"/>
              </a:schemeClr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" name=""/>
          <p:cNvSpPr txBox="1"/>
          <p:nvPr/>
        </p:nvSpPr>
        <p:spPr>
          <a:xfrm>
            <a:off x="5486400" y="2514600"/>
            <a:ext cx="1600200" cy="9954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 anchorCtr="1">
            <a:spAutoFit/>
          </a:bodyPr>
          <a:p>
            <a:pPr algn="ctr">
              <a:lnSpc>
                <a:spcPct val="100000"/>
              </a:lnSpc>
            </a:pPr>
            <a:r>
              <a:rPr lang="en-US" sz="2200" b="1" u="none" strike="noStrike">
                <a:solidFill>
                  <a:srgbClr val="ffffff"/>
                </a:solidFill>
                <a:effectLst/>
                <a:uFillTx/>
                <a:latin typeface="3270 Nerd Font"/>
                <a:ea typeface="Noto Sans CJK SC"/>
              </a:rPr>
              <a:t>Aufbau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" name=""/>
          <p:cNvSpPr txBox="1"/>
          <p:nvPr/>
        </p:nvSpPr>
        <p:spPr>
          <a:xfrm>
            <a:off x="8001000" y="2514600"/>
            <a:ext cx="1600200" cy="9954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 anchorCtr="1">
            <a:spAutoFit/>
          </a:bodyPr>
          <a:p>
            <a:pPr algn="ctr">
              <a:lnSpc>
                <a:spcPct val="100000"/>
              </a:lnSpc>
            </a:pPr>
            <a:r>
              <a:rPr lang="en-US" sz="2200" b="1" u="none" strike="noStrike">
                <a:solidFill>
                  <a:srgbClr val="ffffff"/>
                </a:solidFill>
                <a:effectLst/>
                <a:uFillTx/>
                <a:latin typeface="3270 Nerd Font"/>
                <a:ea typeface="Noto Sans CJK SC"/>
              </a:rPr>
              <a:t>Projekt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" name=""/>
          <p:cNvSpPr txBox="1"/>
          <p:nvPr/>
        </p:nvSpPr>
        <p:spPr>
          <a:xfrm>
            <a:off x="2971800" y="2514600"/>
            <a:ext cx="1600200" cy="9954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 anchorCtr="1">
            <a:spAutoFit/>
          </a:bodyPr>
          <a:p>
            <a:pPr algn="ctr">
              <a:lnSpc>
                <a:spcPct val="100000"/>
              </a:lnSpc>
            </a:pPr>
            <a:r>
              <a:rPr lang="en-US" sz="2200" b="1" u="none" strike="noStrike">
                <a:solidFill>
                  <a:srgbClr val="ffffff"/>
                </a:solidFill>
                <a:effectLst/>
                <a:uFillTx/>
                <a:latin typeface="3270 Nerd Font"/>
                <a:ea typeface="Noto Sans CJK SC"/>
              </a:rPr>
              <a:t>Aufbau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" name=""/>
          <p:cNvSpPr txBox="1"/>
          <p:nvPr/>
        </p:nvSpPr>
        <p:spPr>
          <a:xfrm>
            <a:off x="457200" y="2514600"/>
            <a:ext cx="1600200" cy="9954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 anchorCtr="1">
            <a:spAutoFit/>
          </a:bodyPr>
          <a:p>
            <a:pPr algn="ctr">
              <a:lnSpc>
                <a:spcPct val="100000"/>
              </a:lnSpc>
            </a:pPr>
            <a:r>
              <a:rPr lang="en-US" sz="2200" b="1" u="none" strike="noStrike">
                <a:solidFill>
                  <a:srgbClr val="ffffff"/>
                </a:solidFill>
                <a:effectLst/>
                <a:uFillTx/>
                <a:latin typeface="3270 Nerd Font"/>
                <a:ea typeface="Noto Sans CJK SC"/>
              </a:rPr>
              <a:t>Anwendung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gradFill rotWithShape="0">
          <a:gsLst>
            <a:gs pos="0">
              <a:srgbClr val="282828"/>
            </a:gs>
            <a:gs pos="100000">
              <a:srgbClr val="1d2021"/>
            </a:gs>
          </a:gsLst>
          <a:path path="rect">
            <a:fillToRect l="50000" t="50000" r="50000" b="50000"/>
          </a:path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laceHolder 1"/>
          <p:cNvSpPr>
            <a:spLocks noGrp="1"/>
          </p:cNvSpPr>
          <p:nvPr>
            <p:ph type="title"/>
          </p:nvPr>
        </p:nvSpPr>
        <p:spPr>
          <a:xfrm>
            <a:off x="503640" y="225720"/>
            <a:ext cx="906876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r>
              <a:rPr lang="en-US" sz="4400" b="1" u="none" strike="noStrike">
                <a:solidFill>
                  <a:schemeClr val="lt1">
                    <a:lumOff val="0"/>
                  </a:schemeClr>
                </a:solidFill>
                <a:effectLst/>
                <a:uFillTx/>
                <a:latin typeface="3270 Nerd Font"/>
              </a:rPr>
              <a:t>Was ist ein Mikrocontroller?</a:t>
            </a:r>
            <a:endParaRPr lang="en-US" sz="4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" name="PlaceHolder 2"/>
          <p:cNvSpPr>
            <a:spLocks noGrp="1"/>
          </p:cNvSpPr>
          <p:nvPr>
            <p:ph/>
          </p:nvPr>
        </p:nvSpPr>
        <p:spPr>
          <a:xfrm>
            <a:off x="503640" y="1326240"/>
            <a:ext cx="5668560" cy="3931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4"/>
              </a:spcBef>
              <a:buClr>
                <a:srgbClr val="ffffff"/>
              </a:buClr>
              <a:buSzPct val="85000"/>
              <a:buFont typeface="Wingdings" charset="2"/>
              <a:buChar char=""/>
            </a:pPr>
            <a:r>
              <a:rPr lang="en-US" sz="3200" b="0" u="none" strike="noStrike">
                <a:solidFill>
                  <a:srgbClr val="ffffff"/>
                </a:solidFill>
                <a:effectLst/>
                <a:uFillTx/>
                <a:latin typeface="3270 Nerd Font"/>
              </a:rPr>
              <a:t>Kleiner Computer, 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2" name=""/>
          <p:cNvPicPr/>
          <p:nvPr/>
        </p:nvPicPr>
        <p:blipFill>
          <a:blip r:embed="rId1"/>
          <a:stretch/>
        </p:blipFill>
        <p:spPr>
          <a:xfrm>
            <a:off x="6577920" y="1143000"/>
            <a:ext cx="3023280" cy="30232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gradFill rotWithShape="0">
          <a:gsLst>
            <a:gs pos="0">
              <a:srgbClr val="282828"/>
            </a:gs>
            <a:gs pos="100000">
              <a:srgbClr val="1d2021"/>
            </a:gs>
          </a:gsLst>
          <a:path path="rect">
            <a:fillToRect l="50000" t="50000" r="50000" b="50000"/>
          </a:path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503640" y="225720"/>
            <a:ext cx="906876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r>
              <a:rPr lang="en-US" sz="4400" b="1" u="none" strike="noStrike">
                <a:solidFill>
                  <a:schemeClr val="lt1">
                    <a:lumOff val="0"/>
                  </a:schemeClr>
                </a:solidFill>
                <a:effectLst/>
                <a:uFillTx/>
                <a:latin typeface="3270 Nerd Font"/>
              </a:rPr>
              <a:t>Anwendung</a:t>
            </a:r>
            <a:endParaRPr lang="en-US" sz="4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/>
          </p:nvPr>
        </p:nvSpPr>
        <p:spPr>
          <a:xfrm>
            <a:off x="503640" y="1326240"/>
            <a:ext cx="9068760" cy="3931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lnSpcReduction="9999"/>
          </a:bodyPr>
          <a:p>
            <a:pPr marL="432000" indent="-324000">
              <a:spcBef>
                <a:spcPts val="1414"/>
              </a:spcBef>
              <a:buClr>
                <a:srgbClr val="ffffff"/>
              </a:buClr>
              <a:buSzPct val="85000"/>
              <a:buFont typeface="Wingdings" charset="2"/>
              <a:buChar char=""/>
            </a:pPr>
            <a:r>
              <a:rPr lang="en-US" sz="3200" b="0" u="none" strike="noStrike">
                <a:solidFill>
                  <a:srgbClr val="ffffff"/>
                </a:solidFill>
                <a:effectLst/>
                <a:uFillTx/>
                <a:latin typeface="3270 Nerd Font"/>
              </a:rPr>
              <a:t>Haushaltsgeräte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432000" indent="-324000">
              <a:spcBef>
                <a:spcPts val="1414"/>
              </a:spcBef>
              <a:buClr>
                <a:srgbClr val="ffffff"/>
              </a:buClr>
              <a:buSzPct val="85000"/>
              <a:buFont typeface="Wingdings" charset="2"/>
              <a:buChar char=""/>
            </a:pPr>
            <a:r>
              <a:rPr lang="en-US" sz="3200" b="0" u="none" strike="noStrike">
                <a:solidFill>
                  <a:srgbClr val="ffffff"/>
                </a:solidFill>
                <a:effectLst/>
                <a:uFillTx/>
                <a:latin typeface="3270 Nerd Font"/>
              </a:rPr>
              <a:t>Programmierbare Maschinen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432000" indent="-324000">
              <a:spcBef>
                <a:spcPts val="1414"/>
              </a:spcBef>
              <a:buClr>
                <a:srgbClr val="ffffff"/>
              </a:buClr>
              <a:buSzPct val="85000"/>
              <a:buFont typeface="Wingdings" charset="2"/>
              <a:buChar char=""/>
            </a:pPr>
            <a:r>
              <a:rPr lang="en-US" sz="3200" b="0" u="none" strike="noStrike">
                <a:solidFill>
                  <a:srgbClr val="ffffff"/>
                </a:solidFill>
                <a:effectLst/>
                <a:uFillTx/>
                <a:latin typeface="3270 Nerd Font"/>
              </a:rPr>
              <a:t>Kontrollsysteme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432000" indent="-324000">
              <a:spcBef>
                <a:spcPts val="1414"/>
              </a:spcBef>
              <a:buClr>
                <a:srgbClr val="ffffff"/>
              </a:buClr>
              <a:buSzPct val="85000"/>
              <a:buFont typeface="Wingdings" charset="2"/>
              <a:buChar char=""/>
            </a:pPr>
            <a:r>
              <a:rPr lang="en-US" sz="3200" b="0" u="none" strike="noStrike">
                <a:solidFill>
                  <a:srgbClr val="ffffff"/>
                </a:solidFill>
                <a:effectLst/>
                <a:uFillTx/>
                <a:latin typeface="3270 Nerd Font"/>
              </a:rPr>
              <a:t>Roboter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432000" indent="-324000">
              <a:spcBef>
                <a:spcPts val="1414"/>
              </a:spcBef>
              <a:buClr>
                <a:srgbClr val="ffffff"/>
              </a:buClr>
              <a:buSzPct val="85000"/>
              <a:buFont typeface="Wingdings" charset="2"/>
              <a:buChar char=""/>
            </a:pPr>
            <a:r>
              <a:rPr lang="en-US" sz="3200" b="0" u="none" strike="noStrike">
                <a:solidFill>
                  <a:srgbClr val="ffffff"/>
                </a:solidFill>
                <a:effectLst/>
                <a:uFillTx/>
                <a:latin typeface="3270 Nerd Font"/>
              </a:rPr>
              <a:t>Chipkarten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432000" indent="-324000">
              <a:spcBef>
                <a:spcPts val="1414"/>
              </a:spcBef>
              <a:buClr>
                <a:srgbClr val="ffffff"/>
              </a:buClr>
              <a:buSzPct val="85000"/>
              <a:buFont typeface="Wingdings" charset="2"/>
              <a:buChar char=""/>
            </a:pPr>
            <a:r>
              <a:rPr lang="en-US" sz="3200" b="0" u="none" strike="noStrike">
                <a:solidFill>
                  <a:srgbClr val="ffffff"/>
                </a:solidFill>
                <a:effectLst/>
                <a:uFillTx/>
                <a:latin typeface="3270 Nerd Font"/>
              </a:rPr>
              <a:t>Peripheriegeräte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432000" indent="-324000">
              <a:spcBef>
                <a:spcPts val="1414"/>
              </a:spcBef>
              <a:buClr>
                <a:srgbClr val="ffffff"/>
              </a:buClr>
              <a:buSzPct val="85000"/>
              <a:buFont typeface="Wingdings" charset="2"/>
              <a:buChar char=""/>
            </a:pPr>
            <a:r>
              <a:rPr lang="en-US" sz="3600" b="1" u="none" strike="noStrike">
                <a:solidFill>
                  <a:srgbClr val="ffffff"/>
                </a:solidFill>
                <a:effectLst/>
                <a:uFillTx/>
                <a:latin typeface="3270 Nerd Font"/>
              </a:rPr>
              <a:t>Eingebettete Systeme</a:t>
            </a:r>
            <a:endParaRPr lang="en-US" sz="3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11" dur="indefinite" restart="never" nodeType="tmRoot">
          <p:childTnLst>
            <p:seq>
              <p:cTn id="12" dur="indefinite" nodeType="mainSeq">
                <p:childTnLst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gradFill rotWithShape="0">
          <a:gsLst>
            <a:gs pos="0">
              <a:srgbClr val="282828"/>
            </a:gs>
            <a:gs pos="100000">
              <a:srgbClr val="1d2021"/>
            </a:gs>
          </a:gsLst>
          <a:path path="rect">
            <a:fillToRect l="50000" t="50000" r="50000" b="50000"/>
          </a:path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PlaceHolder 1"/>
          <p:cNvSpPr>
            <a:spLocks noGrp="1"/>
          </p:cNvSpPr>
          <p:nvPr>
            <p:ph type="title"/>
          </p:nvPr>
        </p:nvSpPr>
        <p:spPr>
          <a:xfrm>
            <a:off x="503640" y="225720"/>
            <a:ext cx="906876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r>
              <a:rPr lang="en-US" sz="4400" b="1" u="none" strike="noStrike">
                <a:solidFill>
                  <a:srgbClr val="ffffff"/>
                </a:solidFill>
                <a:effectLst/>
                <a:uFillTx/>
                <a:latin typeface="3270 Nerd Font"/>
              </a:rPr>
              <a:t>Aufbau</a:t>
            </a:r>
            <a:endParaRPr lang="en-US" sz="4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" name="PlaceHolder 2"/>
          <p:cNvSpPr>
            <a:spLocks noGrp="1"/>
          </p:cNvSpPr>
          <p:nvPr>
            <p:ph/>
          </p:nvPr>
        </p:nvSpPr>
        <p:spPr>
          <a:xfrm>
            <a:off x="503640" y="1326240"/>
            <a:ext cx="9068760" cy="3931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4"/>
              </a:spcBef>
              <a:buClr>
                <a:srgbClr val="ffffff"/>
              </a:buClr>
              <a:buSzPct val="85000"/>
              <a:buFont typeface="Wingdings" charset="2"/>
              <a:buChar char=""/>
            </a:pPr>
            <a:r>
              <a:rPr lang="en-US" sz="3200" b="0" u="none" strike="noStrike">
                <a:solidFill>
                  <a:srgbClr val="ffffff"/>
                </a:solidFill>
                <a:effectLst/>
                <a:uFillTx/>
                <a:latin typeface="3270 Nerd Font"/>
              </a:rPr>
              <a:t>Prozessor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432000" indent="-324000">
              <a:spcBef>
                <a:spcPts val="1414"/>
              </a:spcBef>
              <a:buClr>
                <a:srgbClr val="ffffff"/>
              </a:buClr>
              <a:buSzPct val="85000"/>
              <a:buFont typeface="Wingdings" charset="2"/>
              <a:buChar char=""/>
            </a:pPr>
            <a:r>
              <a:rPr lang="en-US" sz="3200" b="0" u="none" strike="noStrike">
                <a:solidFill>
                  <a:srgbClr val="ffffff"/>
                </a:solidFill>
                <a:effectLst/>
                <a:uFillTx/>
                <a:latin typeface="3270 Nerd Font"/>
              </a:rPr>
              <a:t>RAM (Random-access memory)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432000" indent="-324000">
              <a:spcBef>
                <a:spcPts val="1414"/>
              </a:spcBef>
              <a:buClr>
                <a:srgbClr val="ffffff"/>
              </a:buClr>
              <a:buSzPct val="85000"/>
              <a:buFont typeface="Wingdings" charset="2"/>
              <a:buChar char=""/>
            </a:pPr>
            <a:r>
              <a:rPr lang="en-US" sz="3200" b="0" u="none" strike="noStrike">
                <a:solidFill>
                  <a:srgbClr val="ffffff"/>
                </a:solidFill>
                <a:effectLst/>
                <a:uFillTx/>
                <a:latin typeface="3270 Nerd Font"/>
              </a:rPr>
              <a:t>ROM (Read-only memory)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41" dur="indefinite" restart="never" nodeType="tmRoot">
          <p:childTnLst>
            <p:seq>
              <p:cTn id="42" dur="indefinite" nodeType="mainSeq">
                <p:childTnLst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gradFill rotWithShape="0">
          <a:gsLst>
            <a:gs pos="0">
              <a:srgbClr val="282828"/>
            </a:gs>
            <a:gs pos="100000">
              <a:srgbClr val="1d2021"/>
            </a:gs>
          </a:gsLst>
          <a:path path="rect">
            <a:fillToRect l="50000" t="50000" r="50000" b="50000"/>
          </a:path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PlaceHolder 1"/>
          <p:cNvSpPr>
            <a:spLocks noGrp="1"/>
          </p:cNvSpPr>
          <p:nvPr>
            <p:ph type="title"/>
          </p:nvPr>
        </p:nvSpPr>
        <p:spPr>
          <a:xfrm>
            <a:off x="503640" y="225720"/>
            <a:ext cx="906876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r>
              <a:rPr lang="en-US" sz="4400" b="1" u="none" strike="noStrike">
                <a:solidFill>
                  <a:srgbClr val="ffffff"/>
                </a:solidFill>
                <a:effectLst/>
                <a:uFillTx/>
                <a:latin typeface="3270 Nerd Font"/>
              </a:rPr>
              <a:t>Aufbau</a:t>
            </a:r>
            <a:endParaRPr lang="en-US" sz="4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" name="PlaceHolder 2"/>
          <p:cNvSpPr>
            <a:spLocks noGrp="1"/>
          </p:cNvSpPr>
          <p:nvPr>
            <p:ph/>
          </p:nvPr>
        </p:nvSpPr>
        <p:spPr>
          <a:xfrm>
            <a:off x="503640" y="1326240"/>
            <a:ext cx="9068760" cy="3931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4"/>
              </a:spcBef>
              <a:buNone/>
            </a:pPr>
            <a:endParaRPr lang="en-US" sz="3200" b="0" u="none" strike="noStrike">
              <a:solidFill>
                <a:srgbClr val="ffffff"/>
              </a:solidFill>
              <a:effectLst/>
              <a:uFillTx/>
              <a:latin typeface="3270 Nerd Font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823</TotalTime>
  <Application>LibreOffice/25.8.6.2$Linux_X86_64 LibreOffice_project/580$Build-2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2026-03-19T18:40:16Z</dcterms:created>
  <dc:creator/>
  <dc:description/>
  <dc:language>en-US</dc:language>
  <cp:lastModifiedBy/>
  <cp:lastPrinted>2026-04-17T21:49:29Z</cp:lastPrinted>
  <dcterms:modified xsi:type="dcterms:W3CDTF">2026-04-17T21:51:26Z</dcterms:modified>
  <cp:revision>20</cp:revision>
  <dc:subject/>
  <dc:title/>
</cp:coreProperties>
</file>